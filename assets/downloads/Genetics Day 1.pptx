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</p:sldIdLst>
  <p:sldSz cx="12192000" cy="6858000"/>
  <p:notesSz cx="6858000" cy="9144000"/>
  <p:embeddedFontLst>
    <p:embeddedFont>
      <p:font typeface="Microsoft YaHei" panose="020B0503020204020204" pitchFamily="34" charset="-122"/>
      <p:regular r:id="rId13"/>
      <p:bold r:id="rId14"/>
    </p:embeddedFont>
    <p:embeddedFont>
      <p:font typeface="Arvo" panose="02000000000000000000" pitchFamily="2" charset="77"/>
      <p:regular r:id="rId15"/>
      <p:bold r:id="rId16"/>
      <p:italic r:id="rId17"/>
      <p:boldItalic r:id="rId18"/>
    </p:embeddedFont>
    <p:embeddedFont>
      <p:font typeface="Cambria Math" panose="02040503050406030204" pitchFamily="18" charset="0"/>
      <p:regular r:id="rId19"/>
    </p:embeddedFont>
    <p:embeddedFont>
      <p:font typeface="Inter" panose="02000503000000020004" pitchFamily="2" charset="0"/>
      <p:regular r:id="rId20"/>
      <p:bold r:id="rId21"/>
      <p:italic r:id="rId22"/>
      <p:boldItalic r:id="rId2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7"/>
    <p:restoredTop sz="94675"/>
  </p:normalViewPr>
  <p:slideViewPr>
    <p:cSldViewPr snapToGrid="0" snapToObjects="1">
      <p:cViewPr varScale="1">
        <p:scale>
          <a:sx n="148" d="100"/>
          <a:sy n="148" d="100"/>
        </p:scale>
        <p:origin x="216" y="1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.png"/><Relationship Id="rId7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2.png"/><Relationship Id="rId7" Type="http://schemas.openxmlformats.org/officeDocument/2006/relationships/image" Target="../media/image4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png"/><Relationship Id="rId7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46.png"/><Relationship Id="rId10" Type="http://schemas.openxmlformats.org/officeDocument/2006/relationships/image" Target="../media/image51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jp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1981200"/>
            <a:ext cx="40005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0855" y="2737544"/>
            <a:ext cx="9687883" cy="114210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1565C0"/>
                </a:solidFill>
                <a:latin typeface="Arvo"/>
              </a:rPr>
              <a:t>Introduction to Genetics and Evidence Routines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024" y="4135933"/>
            <a:ext cx="5517802" cy="2571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0D47A1"/>
                </a:solidFill>
                <a:latin typeface="Inter"/>
              </a:rPr>
              <a:t>Day 1: Building Scientific Observation Skills in Genetics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2920" y="5753100"/>
            <a:ext cx="2126158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Inter"/>
              </a:rPr>
              <a:t>Aaron Esbenshade </a:t>
            </a:r>
            <a:r>
              <a:rPr sz="1200" b="0" i="0">
                <a:solidFill>
                  <a:srgbClr val="666666"/>
                </a:solidFill>
                <a:latin typeface="Microsoft YaHei"/>
              </a:rPr>
              <a:t>— </a:t>
            </a:r>
            <a:r>
              <a:rPr sz="1200" b="0" i="0">
                <a:solidFill>
                  <a:srgbClr val="666666"/>
                </a:solidFill>
                <a:latin typeface="Inter"/>
              </a:rPr>
              <a:t>Biology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50333" y="6019800"/>
            <a:ext cx="2091332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Inter"/>
              </a:rPr>
              <a:t>Dock Mennonite High 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8594" y="6286500"/>
            <a:ext cx="874811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66666"/>
                </a:solidFill>
                <a:latin typeface="Inter"/>
              </a:rPr>
              <a:t>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8092" y="304800"/>
            <a:ext cx="3655814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Lesson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62102" y="1534269"/>
            <a:ext cx="4267795" cy="2286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0D47A1"/>
                </a:solidFill>
                <a:latin typeface="Inter"/>
              </a:rPr>
              <a:t>By the end of today's lesson, you will be able to: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2085975"/>
            <a:ext cx="8915400" cy="14954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62175" y="2552700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57475" y="2553444"/>
            <a:ext cx="6830794" cy="468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Inter"/>
              </a:rPr>
              <a:t>Describe genes, chromosomes, and DNA</a:t>
            </a:r>
            <a:r>
              <a:rPr sz="1320" b="1" i="0">
                <a:solidFill>
                  <a:srgbClr val="333333"/>
                </a:solidFill>
                <a:latin typeface="Inter"/>
              </a:rPr>
              <a:t> using accurate biological vocabulary and understand their relationships.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3533775"/>
            <a:ext cx="8915400" cy="14954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62175" y="4000500"/>
            <a:ext cx="381000" cy="304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771775" y="4003923"/>
            <a:ext cx="6994207" cy="468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Inter"/>
              </a:rPr>
              <a:t>Explain inheritance</a:t>
            </a:r>
            <a:r>
              <a:rPr sz="1320" b="1" i="0">
                <a:solidFill>
                  <a:srgbClr val="333333"/>
                </a:solidFill>
                <a:latin typeface="Inter"/>
              </a:rPr>
              <a:t> as the passing of biological information from parents to offspring through genetic mechanisms.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4991100"/>
            <a:ext cx="8915400" cy="14954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62175" y="5457825"/>
            <a:ext cx="304800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695575" y="5454401"/>
            <a:ext cx="7234416" cy="46806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Inter"/>
              </a:rPr>
              <a:t>Practice the observation-to-explanation routine</a:t>
            </a:r>
            <a:r>
              <a:rPr sz="1320" b="1" i="0">
                <a:solidFill>
                  <a:srgbClr val="333333"/>
                </a:solidFill>
                <a:latin typeface="Inter"/>
              </a:rPr>
              <a:t> that will anchor all Unit 4 investigations and scientific thinking.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77926" y="228600"/>
            <a:ext cx="5835997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In-Class Activities Overview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581150"/>
            <a:ext cx="9525000" cy="857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894659" y="1751409"/>
            <a:ext cx="2402681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565C0"/>
                </a:solidFill>
                <a:latin typeface="Arvo"/>
              </a:rPr>
              <a:t>Today's Learning Journey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7090" y="2075259"/>
            <a:ext cx="4937670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Five structured activities to build genetics vocabulary and observation skills.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2609850"/>
            <a:ext cx="4991100" cy="12477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62100" y="2924175"/>
            <a:ext cx="228600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914376" y="2935337"/>
            <a:ext cx="804862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Arvo"/>
              </a:rPr>
              <a:t>Bellwork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4475" y="2933700"/>
            <a:ext cx="476250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12878" y="2963912"/>
            <a:ext cx="29467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Times New Roman"/>
              </a:rPr>
              <a:t>8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885" y="3281064"/>
            <a:ext cx="396120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List inherited traits and distinguish observations from inferences.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8850" y="2609850"/>
            <a:ext cx="4991100" cy="12477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8900" y="2924175"/>
            <a:ext cx="2857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48326" y="2935337"/>
            <a:ext cx="1112639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Arvo"/>
              </a:rPr>
              <a:t>Mini-Lesson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4600" y="2933700"/>
            <a:ext cx="542925" cy="2000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228659" y="2963912"/>
            <a:ext cx="3556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Times New Roman"/>
              </a:rPr>
              <a:t>15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0685" y="3281064"/>
            <a:ext cx="399588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Introduction to DNA, genes, chromosomes, and evidence routine.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2050" y="3733800"/>
            <a:ext cx="4991100" cy="14287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62100" y="4048125"/>
            <a:ext cx="257175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942951" y="4061221"/>
            <a:ext cx="1504354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Arvo"/>
              </a:rPr>
              <a:t>Guided Practice 1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4057650"/>
            <a:ext cx="542925" cy="20002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51859" y="4089796"/>
            <a:ext cx="3556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Times New Roman"/>
              </a:rPr>
              <a:t>25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885" y="4406949"/>
            <a:ext cx="3994130" cy="33367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Analyze trait photos and sort observation, evidence, explanation statements.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38850" y="3733800"/>
            <a:ext cx="4991100" cy="142875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4048125"/>
            <a:ext cx="257175" cy="2286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19751" y="4061221"/>
            <a:ext cx="1533971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Arvo"/>
              </a:rPr>
              <a:t>Guided Practice 2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34600" y="4057650"/>
            <a:ext cx="542925" cy="2000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228659" y="4089796"/>
            <a:ext cx="3556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Times New Roman"/>
              </a:rPr>
              <a:t>25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0685" y="4406949"/>
            <a:ext cx="3942159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Build class concept map linking DNA, genes, proteins, and traits.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2050" y="5038725"/>
            <a:ext cx="4991100" cy="12477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52575" y="5353050"/>
            <a:ext cx="304800" cy="2286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1971526" y="5368379"/>
            <a:ext cx="643235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Arvo"/>
              </a:rPr>
              <a:t>Debrief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57800" y="5362575"/>
            <a:ext cx="542925" cy="20002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351859" y="5396954"/>
            <a:ext cx="35569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Times New Roman"/>
              </a:rPr>
              <a:t>10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63885" y="5714107"/>
            <a:ext cx="3708796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Write claim-evidence-reasoning response about inheritance.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55862" y="228600"/>
            <a:ext cx="6480125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Bellwork Challenge (8 minutes)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" y="1504950"/>
            <a:ext cx="8915400" cy="28670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99853" y="1863030"/>
            <a:ext cx="1387524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Your Mission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6450" y="1866900"/>
            <a:ext cx="2476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86875" y="1885950"/>
            <a:ext cx="866775" cy="2000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407128" y="1915417"/>
            <a:ext cx="624631" cy="1428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0D47A1"/>
                </a:solidFill>
                <a:latin typeface="Arvo"/>
              </a:rPr>
              <a:t>8 minutes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975" y="2266950"/>
            <a:ext cx="8067675" cy="4762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8375" y="2390775"/>
            <a:ext cx="228600" cy="228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320230" y="2427833"/>
            <a:ext cx="6101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4638" y="2394495"/>
            <a:ext cx="5294530" cy="1619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 dirty="0">
                <a:solidFill>
                  <a:srgbClr val="1565C0"/>
                </a:solidFill>
                <a:latin typeface="Inter"/>
              </a:rPr>
              <a:t>List </a:t>
            </a:r>
            <a:r>
              <a:rPr lang="en-US" sz="1080" b="1" i="0" dirty="0">
                <a:solidFill>
                  <a:srgbClr val="1565C0"/>
                </a:solidFill>
                <a:latin typeface="Inter"/>
              </a:rPr>
              <a:t>2-3 </a:t>
            </a:r>
            <a:r>
              <a:rPr sz="1080" b="1" i="0" dirty="0">
                <a:solidFill>
                  <a:srgbClr val="1565C0"/>
                </a:solidFill>
                <a:latin typeface="Inter"/>
              </a:rPr>
              <a:t>inherited </a:t>
            </a:r>
            <a:r>
              <a:rPr lang="en-US" sz="1080" b="1" dirty="0">
                <a:solidFill>
                  <a:srgbClr val="1565C0"/>
                </a:solidFill>
                <a:latin typeface="Inter"/>
              </a:rPr>
              <a:t>traits</a:t>
            </a:r>
            <a:r>
              <a:rPr sz="1080" b="0" i="0" dirty="0">
                <a:solidFill>
                  <a:srgbClr val="333333"/>
                </a:solidFill>
                <a:latin typeface="Inter"/>
              </a:rPr>
              <a:t> you observe in</a:t>
            </a:r>
            <a:r>
              <a:rPr lang="en-US" sz="1080" b="0" i="0" dirty="0">
                <a:solidFill>
                  <a:srgbClr val="333333"/>
                </a:solidFill>
                <a:latin typeface="Inter"/>
              </a:rPr>
              <a:t> both parents</a:t>
            </a:r>
            <a:r>
              <a:rPr sz="1080" b="0" i="0" dirty="0">
                <a:solidFill>
                  <a:srgbClr val="333333"/>
                </a:solidFill>
                <a:latin typeface="Inter"/>
              </a:rPr>
              <a:t> (eye color, height, hair texture).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975" y="2857500"/>
            <a:ext cx="8067675" cy="4762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8375" y="2981325"/>
            <a:ext cx="22860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320230" y="3022103"/>
            <a:ext cx="6101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86930" y="2988766"/>
            <a:ext cx="5703212" cy="1619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080" b="1" dirty="0">
                <a:solidFill>
                  <a:srgbClr val="1565C0"/>
                </a:solidFill>
                <a:latin typeface="Inter"/>
              </a:rPr>
              <a:t>List 1-2 inherited traits </a:t>
            </a:r>
            <a:r>
              <a:rPr lang="en-US" sz="1080" dirty="0">
                <a:solidFill>
                  <a:srgbClr val="333333"/>
                </a:solidFill>
                <a:latin typeface="Inter"/>
              </a:rPr>
              <a:t>you observe in only one parent.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5975" y="3457575"/>
            <a:ext cx="8067675" cy="4762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8375" y="3581400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320230" y="3616374"/>
            <a:ext cx="61019" cy="1333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166" y="3583037"/>
            <a:ext cx="4665136" cy="16192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r>
              <a:rPr lang="en-US" sz="1080" b="1" dirty="0">
                <a:solidFill>
                  <a:srgbClr val="1565C0"/>
                </a:solidFill>
                <a:latin typeface="Inter"/>
              </a:rPr>
              <a:t>Make an inference about each trait</a:t>
            </a:r>
            <a:r>
              <a:rPr lang="en-US" sz="1080" dirty="0">
                <a:solidFill>
                  <a:srgbClr val="333333"/>
                </a:solidFill>
                <a:latin typeface="Inter"/>
              </a:rPr>
              <a:t> Is the trait dominant, recessive, from Mom, from Dad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5450" y="4286250"/>
            <a:ext cx="4429125" cy="18669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333029" y="4564558"/>
            <a:ext cx="1968103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D47A1"/>
                </a:solidFill>
                <a:latin typeface="Arvo"/>
              </a:rPr>
              <a:t>Observation Examples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19300" y="4562475"/>
            <a:ext cx="238125" cy="200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8825" y="4886325"/>
            <a:ext cx="3790950" cy="27622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091481" y="4947939"/>
            <a:ext cx="164946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333333"/>
                </a:solidFill>
                <a:latin typeface="Inter"/>
              </a:rPr>
              <a:t>"My mom has brown eyes</a:t>
            </a:r>
            <a:r>
              <a:rPr lang="en-US" sz="1019" dirty="0">
                <a:solidFill>
                  <a:srgbClr val="333333"/>
                </a:solidFill>
                <a:latin typeface="Inter"/>
              </a:rPr>
              <a:t> and dad has blue</a:t>
            </a:r>
            <a:r>
              <a:rPr sz="1019" b="0" i="0" dirty="0">
                <a:solidFill>
                  <a:srgbClr val="333333"/>
                </a:solidFill>
                <a:latin typeface="Inter"/>
              </a:rPr>
              <a:t>"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8825" y="5219700"/>
            <a:ext cx="3790950" cy="27622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091481" y="5282951"/>
            <a:ext cx="1535310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333333"/>
                </a:solidFill>
                <a:latin typeface="Inter"/>
              </a:rPr>
              <a:t>"I am tall</a:t>
            </a:r>
            <a:r>
              <a:rPr lang="en-US" sz="1019" b="0" i="0" dirty="0">
                <a:solidFill>
                  <a:srgbClr val="333333"/>
                </a:solidFill>
                <a:latin typeface="Inter"/>
              </a:rPr>
              <a:t> and my mom is short but my dad is tall</a:t>
            </a:r>
            <a:r>
              <a:rPr sz="1019" b="0" i="0" dirty="0">
                <a:solidFill>
                  <a:srgbClr val="333333"/>
                </a:solidFill>
                <a:latin typeface="Inter"/>
              </a:rPr>
              <a:t>"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8825" y="5553075"/>
            <a:ext cx="3790950" cy="27622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091481" y="5617964"/>
            <a:ext cx="2159793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333333"/>
                </a:solidFill>
                <a:latin typeface="Inter"/>
              </a:rPr>
              <a:t>"Both parents have </a:t>
            </a:r>
            <a:r>
              <a:rPr lang="en-US" sz="1019" dirty="0">
                <a:solidFill>
                  <a:srgbClr val="333333"/>
                </a:solidFill>
                <a:latin typeface="Inter"/>
              </a:rPr>
              <a:t>blonde</a:t>
            </a:r>
            <a:r>
              <a:rPr sz="1019" b="0" i="0" dirty="0">
                <a:solidFill>
                  <a:srgbClr val="333333"/>
                </a:solidFill>
                <a:latin typeface="Inter"/>
              </a:rPr>
              <a:t> hair"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76950" y="4286250"/>
            <a:ext cx="4429125" cy="18669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635353" y="4564558"/>
            <a:ext cx="1742182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0D47A1"/>
                </a:solidFill>
                <a:latin typeface="Arvo"/>
              </a:rPr>
              <a:t>Inference Examples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0325" y="4552950"/>
            <a:ext cx="152400" cy="209550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4886325"/>
            <a:ext cx="3790950" cy="27622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469112" y="4947939"/>
            <a:ext cx="1670595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333333"/>
                </a:solidFill>
                <a:latin typeface="Inter"/>
              </a:rPr>
              <a:t>"Brown eyes are dominant</a:t>
            </a:r>
            <a:r>
              <a:rPr lang="en-US" sz="1019" b="0" i="0" dirty="0">
                <a:solidFill>
                  <a:srgbClr val="333333"/>
                </a:solidFill>
                <a:latin typeface="Inter"/>
              </a:rPr>
              <a:t> since I have brown eyes</a:t>
            </a:r>
            <a:r>
              <a:rPr sz="1019" b="0" i="0" dirty="0">
                <a:solidFill>
                  <a:srgbClr val="333333"/>
                </a:solidFill>
                <a:latin typeface="Inter"/>
              </a:rPr>
              <a:t>"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5219700"/>
            <a:ext cx="3790950" cy="27622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469112" y="5282951"/>
            <a:ext cx="1840557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333333"/>
                </a:solidFill>
                <a:latin typeface="Inter"/>
              </a:rPr>
              <a:t>"I got my height from my dad"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0325" y="5553075"/>
            <a:ext cx="3790950" cy="27622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69112" y="5617964"/>
            <a:ext cx="1829692" cy="1524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 dirty="0">
                <a:solidFill>
                  <a:srgbClr val="333333"/>
                </a:solidFill>
                <a:latin typeface="Inter"/>
              </a:rPr>
              <a:t>"</a:t>
            </a:r>
            <a:r>
              <a:rPr lang="en-US" sz="1019" b="0" i="0" dirty="0">
                <a:solidFill>
                  <a:srgbClr val="333333"/>
                </a:solidFill>
                <a:latin typeface="Inter"/>
              </a:rPr>
              <a:t>I have blonde hair my genotype may be homozygous</a:t>
            </a:r>
            <a:r>
              <a:rPr sz="1019" b="0" i="0" dirty="0">
                <a:solidFill>
                  <a:srgbClr val="333333"/>
                </a:solidFill>
                <a:latin typeface="Inter"/>
              </a:rPr>
              <a:t>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47936" y="304800"/>
            <a:ext cx="9495978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Key Terms - Building Our Genetics Vocabulary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1609725"/>
            <a:ext cx="4362450" cy="1419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60711" y="1930300"/>
            <a:ext cx="928985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Heredity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6450" y="1924050"/>
            <a:ext cx="209550" cy="2571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76450" y="2263675"/>
            <a:ext cx="3588156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444444"/>
                </a:solidFill>
                <a:latin typeface="Inter"/>
              </a:rPr>
              <a:t>The passing of </a:t>
            </a:r>
            <a:r>
              <a:rPr sz="1139" b="1" i="0">
                <a:solidFill>
                  <a:srgbClr val="1565C0"/>
                </a:solidFill>
                <a:latin typeface="Inter"/>
              </a:rPr>
              <a:t> biological information</a:t>
            </a:r>
            <a:r>
              <a:rPr sz="1139" b="0" i="0">
                <a:solidFill>
                  <a:srgbClr val="444444"/>
                </a:solidFill>
                <a:latin typeface="Inter"/>
              </a:rPr>
              <a:t> from parents to offspring through genes.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1609725"/>
            <a:ext cx="4362450" cy="1419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88509" y="1930300"/>
            <a:ext cx="450502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DNA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5100" y="1924050"/>
            <a:ext cx="304800" cy="2571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15100" y="2263675"/>
            <a:ext cx="3597384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565C0"/>
                </a:solidFill>
                <a:latin typeface="Inter"/>
              </a:rPr>
              <a:t>Deoxyribonucleic acid</a:t>
            </a:r>
            <a:r>
              <a:rPr sz="1139" b="0" i="0">
                <a:solidFill>
                  <a:srgbClr val="444444"/>
                </a:solidFill>
                <a:latin typeface="Inter"/>
              </a:rPr>
              <a:t> - the molecule that contains genetic instructions for life.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5450" y="3257550"/>
            <a:ext cx="4362450" cy="14192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330946" y="3573958"/>
            <a:ext cx="528935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Gene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6450" y="3571875"/>
            <a:ext cx="180975" cy="25717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076450" y="3907333"/>
            <a:ext cx="3657213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444444"/>
                </a:solidFill>
                <a:latin typeface="Inter"/>
              </a:rPr>
              <a:t>A specific </a:t>
            </a:r>
            <a:r>
              <a:rPr sz="1139" b="1" i="0">
                <a:solidFill>
                  <a:srgbClr val="1565C0"/>
                </a:solidFill>
                <a:latin typeface="Inter"/>
              </a:rPr>
              <a:t> section of DNA</a:t>
            </a:r>
            <a:r>
              <a:rPr sz="1139" b="0" i="0">
                <a:solidFill>
                  <a:srgbClr val="444444"/>
                </a:solidFill>
                <a:latin typeface="Inter"/>
              </a:rPr>
              <a:t> that codes for a particular trait or characteristic.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4100" y="3257550"/>
            <a:ext cx="4362450" cy="14192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99361" y="3573958"/>
            <a:ext cx="1391394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Chromosome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5100" y="3581400"/>
            <a:ext cx="209550" cy="24765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15100" y="3907333"/>
            <a:ext cx="3204180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444444"/>
                </a:solidFill>
                <a:latin typeface="Inter"/>
              </a:rPr>
              <a:t>A structure containing </a:t>
            </a:r>
            <a:r>
              <a:rPr sz="1139" b="1" i="0">
                <a:solidFill>
                  <a:srgbClr val="1565C0"/>
                </a:solidFill>
                <a:latin typeface="Inter"/>
              </a:rPr>
              <a:t> many genes</a:t>
            </a:r>
            <a:r>
              <a:rPr sz="1139" b="0" i="0">
                <a:solidFill>
                  <a:srgbClr val="444444"/>
                </a:solidFill>
                <a:latin typeface="Inter"/>
              </a:rPr>
              <a:t> organized together in the cell nucleus.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76700" y="4895850"/>
            <a:ext cx="4038600" cy="141922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801344" y="5217616"/>
            <a:ext cx="523279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Trait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8175" y="5219700"/>
            <a:ext cx="285750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457700" y="5550991"/>
            <a:ext cx="3209984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444444"/>
                </a:solidFill>
                <a:latin typeface="Inter"/>
              </a:rPr>
              <a:t>An </a:t>
            </a:r>
            <a:r>
              <a:rPr sz="1139" b="1" i="0">
                <a:solidFill>
                  <a:srgbClr val="1565C0"/>
                </a:solidFill>
                <a:latin typeface="Inter"/>
              </a:rPr>
              <a:t> observable characteristic</a:t>
            </a:r>
            <a:r>
              <a:rPr sz="1139" b="0" i="0">
                <a:solidFill>
                  <a:srgbClr val="444444"/>
                </a:solidFill>
                <a:latin typeface="Inter"/>
              </a:rPr>
              <a:t> of an organism, such as eye color or height.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390900" y="228600"/>
            <a:ext cx="5410051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DNA - The Blueprint of Life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114550"/>
            <a:ext cx="5791200" cy="3657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495550"/>
            <a:ext cx="48768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0" y="2245518"/>
            <a:ext cx="1926580" cy="3333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60" b="1" i="0">
                <a:solidFill>
                  <a:srgbClr val="1565C0"/>
                </a:solidFill>
                <a:latin typeface="Arvo"/>
              </a:rPr>
              <a:t>What is DNA?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2781300"/>
            <a:ext cx="180975" cy="2190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3184" y="2796033"/>
            <a:ext cx="4881026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DNA stands for deoxyribonucleic acid, containing genetic instructions.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800" y="3195935"/>
            <a:ext cx="3571041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It has a  double helix structure, like a twisted ladder.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3581400"/>
            <a:ext cx="2476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7450" y="3595836"/>
            <a:ext cx="4140904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The sequence of bases (A, T, G, C) forms the  genetic code 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3981450"/>
            <a:ext cx="200025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890" y="3995737"/>
            <a:ext cx="3929270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DNA can  replicate itself to pass information to new cells.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91200" y="4857750"/>
            <a:ext cx="5943600" cy="7810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981700" y="5011042"/>
            <a:ext cx="1696938" cy="2000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565C0"/>
                </a:solidFill>
                <a:latin typeface="Arvo"/>
              </a:rPr>
              <a:t>Amazing DNA Facts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81700" y="5296792"/>
            <a:ext cx="4102000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If unraveled, all DNA in your body would stretch 10 billion miles!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30982" y="228600"/>
            <a:ext cx="9330035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The Evidence Routine - Our Scientific Method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838325"/>
            <a:ext cx="3171825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305198" y="2447776"/>
            <a:ext cx="1231552" cy="2667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565C0"/>
                </a:solidFill>
                <a:latin typeface="Arvo"/>
              </a:rPr>
              <a:t>1. 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513" y="2809726"/>
            <a:ext cx="3225165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What do you see? Record only what is directly observable.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8450" y="2345680"/>
            <a:ext cx="304800" cy="3429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65C0"/>
                </a:solidFill>
                <a:latin typeface="Cambria Math"/>
              </a:rPr>
              <a:t>→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5325" y="1838325"/>
            <a:ext cx="3171825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11650" y="2447776"/>
            <a:ext cx="1968400" cy="2667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565C0"/>
                </a:solidFill>
                <a:latin typeface="Arvo"/>
              </a:rPr>
              <a:t>2. CITE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62525" y="2809726"/>
            <a:ext cx="2339042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What specific data supports your observation?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3400" y="2345680"/>
            <a:ext cx="304800" cy="3429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65C0"/>
                </a:solidFill>
                <a:latin typeface="Cambria Math"/>
              </a:rPr>
              <a:t>→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6675" y="1838325"/>
            <a:ext cx="3171825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660159" y="2447776"/>
            <a:ext cx="1221432" cy="2667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1" i="0">
                <a:solidFill>
                  <a:srgbClr val="1565C0"/>
                </a:solidFill>
                <a:latin typeface="Arvo"/>
              </a:rPr>
              <a:t>3.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9641" y="2809726"/>
            <a:ext cx="2914858" cy="38367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0" i="0">
                <a:solidFill>
                  <a:srgbClr val="333333"/>
                </a:solidFill>
                <a:latin typeface="Inter"/>
              </a:rPr>
              <a:t>Why might this be happening? What's the scientific reasoning?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38300" y="3762375"/>
            <a:ext cx="8915400" cy="23431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406503" y="4120008"/>
            <a:ext cx="3378993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Example: Family Eye Color Study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8350" y="4524375"/>
            <a:ext cx="2552700" cy="1143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219325" y="4672458"/>
            <a:ext cx="652313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Arvo"/>
              </a:rPr>
              <a:t>Observe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19325" y="4939158"/>
            <a:ext cx="2157233" cy="3539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"Both parents have </a:t>
            </a:r>
            <a:r>
              <a:rPr sz="1080" b="1" i="0">
                <a:solidFill>
                  <a:srgbClr val="1565C0"/>
                </a:solidFill>
                <a:latin typeface="Inter"/>
              </a:rPr>
              <a:t> brown eyes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, but one child has </a:t>
            </a:r>
            <a:r>
              <a:rPr sz="1080" b="1" i="0">
                <a:solidFill>
                  <a:srgbClr val="1565C0"/>
                </a:solidFill>
                <a:latin typeface="Inter"/>
              </a:rPr>
              <a:t> blue eyes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."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9650" y="4524375"/>
            <a:ext cx="2552700" cy="1143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00625" y="4672458"/>
            <a:ext cx="732234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Arvo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00625" y="4939158"/>
            <a:ext cx="2164080" cy="5459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"Family photos show </a:t>
            </a:r>
            <a:r>
              <a:rPr sz="1080" b="1" i="0">
                <a:solidFill>
                  <a:srgbClr val="1565C0"/>
                </a:solidFill>
                <a:latin typeface="Inter"/>
              </a:rPr>
              <a:t> consistent eye colors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across multiple generations."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00950" y="4524375"/>
            <a:ext cx="2552700" cy="1143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781925" y="4672458"/>
            <a:ext cx="617190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Arvo"/>
              </a:rPr>
              <a:t>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81925" y="4939158"/>
            <a:ext cx="2057816" cy="5459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"Parents likely carry </a:t>
            </a:r>
            <a:r>
              <a:rPr sz="1080" b="1" i="0">
                <a:solidFill>
                  <a:srgbClr val="1565C0"/>
                </a:solidFill>
                <a:latin typeface="Inter"/>
              </a:rPr>
              <a:t> recessive alleles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for blue eyes that combined in this child."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60116" y="228600"/>
            <a:ext cx="7471618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From DNA to Traits - The Connection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638300"/>
            <a:ext cx="2200275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4550" y="2076450"/>
            <a:ext cx="333375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52339" y="2606724"/>
            <a:ext cx="450502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DNA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1666" y="2940099"/>
            <a:ext cx="1300281" cy="5459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The genetic material containing instructions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71850" y="2638425"/>
            <a:ext cx="266700" cy="3048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8550" y="1638300"/>
            <a:ext cx="2200275" cy="23907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1050" y="2076450"/>
            <a:ext cx="285750" cy="381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19451" y="2606724"/>
            <a:ext cx="635496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Genes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52900" y="2940099"/>
            <a:ext cx="1237178" cy="5459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Specific sections of DNA coding for traits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2638425"/>
            <a:ext cx="2667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733550"/>
            <a:ext cx="2457450" cy="22002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3275" y="2171700"/>
            <a:ext cx="333375" cy="381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76714" y="2702718"/>
            <a:ext cx="1498103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Chromosomes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30441" y="3036093"/>
            <a:ext cx="1459081" cy="35391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Structures organizing many genes together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450" y="2638425"/>
            <a:ext cx="266700" cy="3048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50" y="1638300"/>
            <a:ext cx="2200275" cy="239077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6450" y="2076450"/>
            <a:ext cx="447675" cy="381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599265" y="2606724"/>
            <a:ext cx="629989" cy="2381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0" b="1" i="0">
                <a:solidFill>
                  <a:srgbClr val="1565C0"/>
                </a:solidFill>
                <a:latin typeface="Arvo"/>
              </a:rPr>
              <a:t>Traits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3189" y="2940099"/>
            <a:ext cx="1250572" cy="54590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Observable characteristics we can see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09750" y="4362450"/>
            <a:ext cx="8572500" cy="154305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12556" y="4668589"/>
            <a:ext cx="1804838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565C0"/>
                </a:solidFill>
                <a:latin typeface="Arvo"/>
              </a:rPr>
              <a:t>The Big Picture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86607" y="5125789"/>
            <a:ext cx="7532935" cy="4342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D47A1"/>
                </a:solidFill>
                <a:latin typeface="Inter"/>
              </a:rPr>
              <a:t>DNA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contains the instructions,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genes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are specific recipes within that instruction manual,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chromosomes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organize these recipes into chapters, and </a:t>
            </a:r>
            <a:r>
              <a:rPr sz="1200" b="1" i="0">
                <a:solidFill>
                  <a:srgbClr val="0D47A1"/>
                </a:solidFill>
                <a:latin typeface="Inter"/>
              </a:rPr>
              <a:t> traits</a:t>
            </a:r>
            <a:r>
              <a:rPr sz="1200" b="0" i="0">
                <a:solidFill>
                  <a:srgbClr val="333333"/>
                </a:solidFill>
                <a:latin typeface="Inter"/>
              </a:rPr>
              <a:t> are the final products we observe in living organisms.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6959" y="228600"/>
            <a:ext cx="11318081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Observation vs. Inference - Can You Tell the Difference?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975" y="1390650"/>
            <a:ext cx="5534025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588121" y="1923157"/>
            <a:ext cx="2121842" cy="3714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65C0"/>
                </a:solidFill>
                <a:latin typeface="Arvo"/>
              </a:rPr>
              <a:t>Observations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0725" y="1885950"/>
            <a:ext cx="5334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" y="2571750"/>
            <a:ext cx="44196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752748" y="2723257"/>
            <a:ext cx="3202037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333333"/>
                </a:solidFill>
                <a:latin typeface="Inter"/>
              </a:rPr>
              <a:t>What we can directly see, hear, or measure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295650"/>
            <a:ext cx="4419600" cy="523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25909" y="3456682"/>
            <a:ext cx="4020204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565C0"/>
                </a:solidFill>
                <a:latin typeface="Inter"/>
              </a:rPr>
              <a:t>"This student has brown eyes"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directly observable trait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971925"/>
            <a:ext cx="4419600" cy="5238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25909" y="4131022"/>
            <a:ext cx="3657659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565C0"/>
                </a:solidFill>
                <a:latin typeface="Inter"/>
              </a:rPr>
              <a:t>"The plant is 15 cm tall"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measurable characteristic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4648200"/>
            <a:ext cx="4419600" cy="52387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25909" y="4805362"/>
            <a:ext cx="3557944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565C0"/>
                </a:solidFill>
                <a:latin typeface="Inter"/>
              </a:rPr>
              <a:t>"Both parents have curly hair"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visible family trait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5314950"/>
            <a:ext cx="4419600" cy="52387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325909" y="5479702"/>
            <a:ext cx="3755737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1565C0"/>
                </a:solidFill>
                <a:latin typeface="Inter"/>
              </a:rPr>
              <a:t>"The DNA gel shows three bands"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laboratory result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285875"/>
            <a:ext cx="5534025" cy="52387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40017" y="1814512"/>
            <a:ext cx="1710779" cy="3714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D47A1"/>
                </a:solidFill>
                <a:latin typeface="Arvo"/>
              </a:rPr>
              <a:t>Inferences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20025" y="1781175"/>
            <a:ext cx="342900" cy="45720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77025" y="2466975"/>
            <a:ext cx="4419600" cy="4953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058471" y="2614612"/>
            <a:ext cx="3654623" cy="19050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333333"/>
                </a:solidFill>
                <a:latin typeface="Inter"/>
              </a:rPr>
              <a:t>What we conclude or interpret from observations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025" y="3190875"/>
            <a:ext cx="4419600" cy="52387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858000" y="3348037"/>
            <a:ext cx="4138225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D47A1"/>
                </a:solidFill>
                <a:latin typeface="Inter"/>
              </a:rPr>
              <a:t>"Brown eyes are dominant"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conclusion about inheritance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025" y="3867150"/>
            <a:ext cx="4419600" cy="52387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58000" y="4022377"/>
            <a:ext cx="3810208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D47A1"/>
                </a:solidFill>
                <a:latin typeface="Inter"/>
              </a:rPr>
              <a:t>"The plant has good genes"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interpretation of growth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77025" y="4543425"/>
            <a:ext cx="4419600" cy="7429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58000" y="4696717"/>
            <a:ext cx="3747551" cy="39811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D47A1"/>
                </a:solidFill>
                <a:latin typeface="Inter"/>
              </a:rPr>
              <a:t>"The child will have curly hair"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prediction based on parents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77025" y="5429250"/>
            <a:ext cx="4419600" cy="52387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858000" y="5588198"/>
            <a:ext cx="4021544" cy="1809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9" b="1" i="0">
                <a:solidFill>
                  <a:srgbClr val="0D47A1"/>
                </a:solidFill>
                <a:latin typeface="Inter"/>
              </a:rPr>
              <a:t>"This gene causes the trait"</a:t>
            </a:r>
            <a:r>
              <a:rPr sz="1139" b="0" i="0">
                <a:solidFill>
                  <a:srgbClr val="333333"/>
                </a:solidFill>
                <a:latin typeface="Inter"/>
              </a:rPr>
              <a:t> - explanation of DNA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927770" y="228600"/>
            <a:ext cx="8336309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120" b="1" i="0" dirty="0">
                <a:solidFill>
                  <a:srgbClr val="1565C0"/>
                </a:solidFill>
                <a:latin typeface="Arvo"/>
              </a:rPr>
              <a:t>Dragon Genetics Lab</a:t>
            </a:r>
            <a:endParaRPr sz="3120" b="1" i="0" dirty="0">
              <a:solidFill>
                <a:srgbClr val="1565C0"/>
              </a:solidFill>
              <a:latin typeface="Arvo"/>
            </a:endParaRP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490" y="1219200"/>
            <a:ext cx="6847609" cy="45812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23896" y="1662927"/>
            <a:ext cx="2458789" cy="2762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dirty="0">
                <a:solidFill>
                  <a:srgbClr val="1565C0"/>
                </a:solidFill>
                <a:latin typeface="Arvo"/>
              </a:rPr>
              <a:t>Activity Instructions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6400" y="1714500"/>
            <a:ext cx="314325" cy="2952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23896" y="2153464"/>
            <a:ext cx="5878795" cy="68907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>
              <a:lnSpc>
                <a:spcPct val="200000"/>
              </a:lnSpc>
            </a:pPr>
            <a:r>
              <a:rPr lang="en-US" sz="1200" dirty="0"/>
              <a:t>In this activity you will “mate” with a dragon of the opposite gender to create a “baby dragon.” You will use your knowledge of genetics to determine the genotype and phenotype for each of the 13 traits in your baby dragon. You will also construct a picture of your baby dragon by cutting out the appropriate pieces from the blackline drawing (page 8), taping/gluing them in place, and coloring them correctly.</a:t>
            </a:r>
            <a:endParaRPr lang="en-US" sz="1200" dirty="0">
              <a:effectLst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6675" y="4456352"/>
            <a:ext cx="6613236" cy="4857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46597" y="4608751"/>
            <a:ext cx="5233392" cy="1809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39" b="1" dirty="0">
                <a:solidFill>
                  <a:srgbClr val="0D47A1"/>
                </a:solidFill>
                <a:latin typeface="Inter"/>
              </a:rPr>
              <a:t>Pink (girl) </a:t>
            </a:r>
            <a:r>
              <a:rPr lang="en-US" sz="1139" b="1" i="0" dirty="0">
                <a:solidFill>
                  <a:srgbClr val="0D47A1"/>
                </a:solidFill>
                <a:latin typeface="Inter"/>
              </a:rPr>
              <a:t>and </a:t>
            </a:r>
            <a:r>
              <a:rPr sz="1139" b="1" i="0" dirty="0">
                <a:solidFill>
                  <a:srgbClr val="0D47A1"/>
                </a:solidFill>
                <a:latin typeface="Inter"/>
              </a:rPr>
              <a:t>B</a:t>
            </a:r>
            <a:r>
              <a:rPr lang="en-US" sz="1139" b="1" i="0" dirty="0">
                <a:solidFill>
                  <a:srgbClr val="0D47A1"/>
                </a:solidFill>
                <a:latin typeface="Inter"/>
              </a:rPr>
              <a:t>lue (boy)</a:t>
            </a:r>
            <a:r>
              <a:rPr sz="1139" b="1" i="0" dirty="0">
                <a:solidFill>
                  <a:srgbClr val="0D47A1"/>
                </a:solidFill>
                <a:latin typeface="Inter"/>
              </a:rPr>
              <a:t> </a:t>
            </a:r>
            <a:r>
              <a:rPr lang="en-US" sz="1139" b="1" i="0" dirty="0">
                <a:solidFill>
                  <a:srgbClr val="0D47A1"/>
                </a:solidFill>
                <a:latin typeface="Inter"/>
              </a:rPr>
              <a:t>will exchange genetic information in order to create their dragon</a:t>
            </a:r>
            <a:endParaRPr sz="1139" b="1" i="0" dirty="0">
              <a:solidFill>
                <a:srgbClr val="0D47A1"/>
              </a:solidFill>
              <a:latin typeface="Inter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C662A08-D329-9EF3-44FC-87A80665B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993" y="815044"/>
            <a:ext cx="3902787" cy="58143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892301" y="228600"/>
            <a:ext cx="4407396" cy="476250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20" b="1" i="0">
                <a:solidFill>
                  <a:srgbClr val="1565C0"/>
                </a:solidFill>
                <a:latin typeface="Arvo"/>
              </a:rPr>
              <a:t>Exit Ticket Reflection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5975" y="1562100"/>
            <a:ext cx="40005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43100" y="2057400"/>
            <a:ext cx="8305800" cy="27527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4150" y="3486150"/>
            <a:ext cx="6800850" cy="533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945010" y="3666827"/>
            <a:ext cx="4677519" cy="16192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0D47A1"/>
                </a:solidFill>
                <a:latin typeface="Inter"/>
              </a:rPr>
              <a:t>Write your response using the format: Claim </a:t>
            </a:r>
            <a:r>
              <a:rPr sz="1080" b="1" i="0">
                <a:solidFill>
                  <a:srgbClr val="0D47A1"/>
                </a:solidFill>
                <a:latin typeface="Cambria Math"/>
              </a:rPr>
              <a:t>→ </a:t>
            </a:r>
            <a:r>
              <a:rPr sz="1080" b="1" i="0">
                <a:solidFill>
                  <a:srgbClr val="0D47A1"/>
                </a:solidFill>
                <a:latin typeface="Inter"/>
              </a:rPr>
              <a:t>Evidence </a:t>
            </a:r>
            <a:r>
              <a:rPr sz="1080" b="1" i="0">
                <a:solidFill>
                  <a:srgbClr val="0D47A1"/>
                </a:solidFill>
                <a:latin typeface="Cambria Math"/>
              </a:rPr>
              <a:t>→ </a:t>
            </a:r>
            <a:r>
              <a:rPr sz="1080" b="1" i="0">
                <a:solidFill>
                  <a:srgbClr val="0D47A1"/>
                </a:solidFill>
                <a:latin typeface="Inter"/>
              </a:rPr>
              <a:t>Reasoning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0" y="4619625"/>
            <a:ext cx="7620000" cy="14668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156001" y="4868763"/>
            <a:ext cx="1956048" cy="219075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39" b="1" i="0">
                <a:solidFill>
                  <a:srgbClr val="1565C0"/>
                </a:solidFill>
                <a:latin typeface="Arvo"/>
              </a:rPr>
              <a:t>Assessment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9181" y="5238303"/>
            <a:ext cx="6782216" cy="57358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333333"/>
                </a:solidFill>
                <a:latin typeface="Inter"/>
              </a:rPr>
              <a:t>This reflection helps us assess your understanding of the </a:t>
            </a:r>
            <a:r>
              <a:rPr sz="1080" b="1" i="0">
                <a:solidFill>
                  <a:srgbClr val="1565C0"/>
                </a:solidFill>
                <a:latin typeface="Inter"/>
              </a:rPr>
              <a:t> observation-to-explanation routine</a:t>
            </a:r>
            <a:r>
              <a:rPr sz="1080" b="0" i="0">
                <a:solidFill>
                  <a:srgbClr val="333333"/>
                </a:solidFill>
                <a:latin typeface="Inter"/>
              </a:rPr>
              <a:t> and your ability to distinguish between what you directly observe and the scientific claims you can support with evidence.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D0B378-7CE2-167F-A63C-8B738C245BF0}"/>
              </a:ext>
            </a:extLst>
          </p:cNvPr>
          <p:cNvSpPr txBox="1"/>
          <p:nvPr/>
        </p:nvSpPr>
        <p:spPr>
          <a:xfrm>
            <a:off x="2829464" y="2527540"/>
            <a:ext cx="62110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What is one genetics claim you can make about the traits you observed in your bell work? Support it with what you learned from today’s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</TotalTime>
  <Words>928</Words>
  <Application>Microsoft Macintosh PowerPoint</Application>
  <PresentationFormat>Widescreen</PresentationFormat>
  <Paragraphs>113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Arvo</vt:lpstr>
      <vt:lpstr>Arial</vt:lpstr>
      <vt:lpstr>Microsoft YaHei</vt:lpstr>
      <vt:lpstr>Inter</vt:lpstr>
      <vt:lpstr>Times New Roman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Aaron Esbenshade</cp:lastModifiedBy>
  <cp:revision>2</cp:revision>
  <dcterms:created xsi:type="dcterms:W3CDTF">2013-01-27T09:14:16Z</dcterms:created>
  <dcterms:modified xsi:type="dcterms:W3CDTF">2026-03-12T22:53:13Z</dcterms:modified>
  <cp:category/>
</cp:coreProperties>
</file>